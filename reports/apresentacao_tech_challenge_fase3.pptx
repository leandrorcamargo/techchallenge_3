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Somos uma equipe de ciência de dados de uma organização pública de análise educacional. Na Fase 2 construímos a pipeline de dados; nesta fase transformamos aquela camada analítica em modelos preditivos.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indicador nacional subiu 10 pontos em dois anos, o que é um avanço real. Mas a média esconde: 35 pontos separam a melhor da pior UF, e dentro do mesmo município a variação entre escolas é enorme. E o indicador só sai depois da prova.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Trabalhamos em dois grãos. No grão aluno, prever se a criança será alfabetizada. No grão município, prever se o município fica abaixo da meta. São duas decisões diferentes: uma dimensiona o programa, a outra escolhe onde ele vai.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camadas de dados. A base principal são os microdados do INEP; sobre ela vêm as metas e integrações da Fase 2; e enriquecemos com dados socioeconômicos do IBGE. Antes de modelar, validamos nossos cálculos contra o indicador oficial.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pipeline segue as boas práticas de ambiente produtivo: tudo dentro de um objeto scikit-learn, imputação e encoding ajustados apenas no fold de treino.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Mapeamos três camadas de vazamento. E encontramos uma armadilha: o identificador de escola muda a cada edição dos microdados. Só 2% permanecem no mesmo município. Removemos todo histórico por escola.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Comparamos cinco modelos, sempre contra dois baselines. O importante é o baseline analítico: a conta de subtração. É a régua que separa ganho real de número bonito.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grão aluno, AUC de 0,64 fora da amostra. O gap para o treino é pequeno: generaliza. Mas o teto é estrutural — não há variáveis do aluno nos dados públicos, só contexto.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grão município o desempenho sobe para 0,806, com ganho real sobre o baseline. Mas o teste de estresse mostra o limite: para estados nunca vistos, o modelo perde para a conta de subtração. O ganho é intra-estadual, e dizemos 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Usamos Feature Importance e SHAP. O que pesa é o desempenho educacional recente do território. O socioeconômico aparece, mas em segundo plano.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achado mais importante para gestão pública. A correlação entre renda e alfabetização é praticamente nula. O Ceará lidera; o Rio Grande do Sul está entre os piores. Ou seja: o resultado depende de política, não de orçamento.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Somando as probabilidades do modelo, chegamos a cerca de 731 mil crianças em risco. E 228 municípios concentram metade delas. Isso transforma um problema nacional em um problema de priorização.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Aplicando o modelo ao contexto de 2025 contra a meta de 2026: 1.691 municípios em alto risco, cobrindo 858 mil crianças. O entregável é um ranking priorizado, pronto para virar fila de atendimento.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usos concretos: priorizar, dimensionar, focar dentro do município e monitorar. O modelo diz onde olhar; a política decide o que fazer.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 honesto sobre limites faz parte do trabalho. O modelo não tem variáveis do aluno, a série é curta e não deve ser extrapolado entre estados. As evoluções passam por integrar Censo Escolar e Cadastro Único.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A mensagem para levar: alfabetização é um problema de inteligência territorial. O modelo aponta onde agir, e o risco é concentrado o suficiente para que uma política focada funcione.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828800"/>
            <a:ext cx="6766560" cy="6766560"/>
          </a:xfrm>
          <a:prstGeom prst="ellipse">
            <a:avLst/>
          </a:prstGeom>
          <a:solidFill>
            <a:srgbClr val="9085E9">
              <a:alpha val="12000"/>
            </a:srgbClr>
          </a:solidFill>
          <a:ln w="12700">
            <a:solidFill>
              <a:srgbClr val="0E0E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108960"/>
            <a:ext cx="4572000" cy="4572000"/>
          </a:xfrm>
          <a:prstGeom prst="ellipse">
            <a:avLst/>
          </a:prstGeom>
          <a:solidFill>
            <a:srgbClr val="3987E5">
              <a:alpha val="8000"/>
            </a:srgbClr>
          </a:solidFill>
          <a:ln w="12700">
            <a:solidFill>
              <a:srgbClr val="0E0E1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74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· FASE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Predição e Inteligência Analítica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Alfabetização no Brasil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148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aplicado ao Indicador Criança Alfabetizada — do dado público à decisão de política educacional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Isabelle Nicole Santana de Brito  ·  Filipe Noberto Justino  ·  Leandro Rebes Camargo  ·  Felipe Vieira Sanches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nacional esconde o problema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69464" cy="2148840"/>
          </a:xfrm>
          <a:prstGeom prst="roundRect">
            <a:avLst>
              <a:gd name="adj" fmla="val 3830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10512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66,0%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615184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crianças alfabetizadas na rede pública em 2025 — contra 55,9% em 2023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19856" y="1600200"/>
            <a:ext cx="2569464" cy="2148840"/>
          </a:xfrm>
          <a:prstGeom prst="roundRect">
            <a:avLst>
              <a:gd name="adj" fmla="val 3830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75888" y="1810512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AB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34,8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3675888" y="2615184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percentuais separam a melhor e a pior unidade da federação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9632" y="1600200"/>
            <a:ext cx="2569464" cy="2148840"/>
          </a:xfrm>
          <a:prstGeom prst="roundRect">
            <a:avLst>
              <a:gd name="adj" fmla="val 3830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5664" y="1810512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AB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14,6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6455664" y="2615184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percentuais de desvio-padrão entre escolas do MESMO município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9408" y="1600200"/>
            <a:ext cx="2569464" cy="2148840"/>
          </a:xfrm>
          <a:prstGeom prst="roundRect">
            <a:avLst>
              <a:gd name="adj" fmla="val 3830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0" y="1810512"/>
            <a:ext cx="20848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9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615184"/>
            <a:ext cx="20848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meta de 2030 do Compromisso Nacional Criança Alfabetizada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0690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indicador avançou. Mas ele só fica pronto depois da avaliação — tarde demais para agir.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5262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desta fase: dá para saber ANTES onde o risco está se formando?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corte oficial: 743 pontos na escala Saeb de Língua Portuguesa do 2º ano (Pesquisa Alfabetiza Brasil, INEP 2023).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ANALÍTICO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modelos, dois grãos, duas decisões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349240" cy="3200400"/>
          </a:xfrm>
          <a:prstGeom prst="roundRect">
            <a:avLst>
              <a:gd name="adj" fmla="val 2571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GRÃO ALUNO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860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criança será considerada alfabetizada?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1546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Alvo: proficiência ≥ 743 pontos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1,97 milhão de alunos no conjunto de teste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risco agregado e dimensiona programas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99632" y="1645920"/>
            <a:ext cx="5349240" cy="3200400"/>
          </a:xfrm>
          <a:prstGeom prst="roundRect">
            <a:avLst>
              <a:gd name="adj" fmla="val 2571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GRÃO MUNICÍPIO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22860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município vai ficar abaixo da meta do ano?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31546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Alvo: taxa observada &lt; meta do ano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5.338 municípios da rede Municipal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onde agir e antecipa 2026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21208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foco não é maximizar métrica — é produzir inteligência aplicável à decisão pública.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 milhões de registros, três fontes integradas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10908792" cy="1051560"/>
          </a:xfrm>
          <a:prstGeom prst="roundRect">
            <a:avLst>
              <a:gd name="adj" fmla="val 7826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11680"/>
            <a:ext cx="292608" cy="292608"/>
          </a:xfrm>
          <a:prstGeom prst="ellipse">
            <a:avLst/>
          </a:prstGeom>
          <a:solidFill>
            <a:srgbClr val="9085E9"/>
          </a:solidFill>
          <a:ln w="12700">
            <a:solidFill>
              <a:srgbClr val="9085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17320" y="179222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Microdados do INEP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792224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da Alfabetização 2023, 2024 e 2025 — TS_ALUNO, TS_MUNICIPIO e TS_ESTADO. 5.556 municípios e 43.644 escolas na última edição.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52928"/>
            <a:ext cx="10908792" cy="1051560"/>
          </a:xfrm>
          <a:prstGeom prst="roundRect">
            <a:avLst>
              <a:gd name="adj" fmla="val 7826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218688"/>
            <a:ext cx="292608" cy="292608"/>
          </a:xfrm>
          <a:prstGeom prst="ellipse">
            <a:avLst/>
          </a:prstGeom>
          <a:solidFill>
            <a:srgbClr val="3987E5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417320" y="2999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Gold da Fase 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999232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nacionais, estaduais e municipais do Compromisso Nacional (trajetória 2024–2030), indicadores agregados e percentual de participação.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59936"/>
            <a:ext cx="10908792" cy="1051560"/>
          </a:xfrm>
          <a:prstGeom prst="roundRect">
            <a:avLst>
              <a:gd name="adj" fmla="val 7826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425696"/>
            <a:ext cx="292608" cy="292608"/>
          </a:xfrm>
          <a:prstGeom prst="ellipse">
            <a:avLst/>
          </a:prstGeom>
          <a:solidFill>
            <a:srgbClr val="199E70"/>
          </a:solidFill>
          <a:ln w="12700">
            <a:solidFill>
              <a:srgbClr val="199E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417320" y="4206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Enriquecimento IBGE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42062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Coletado das APIs públicas: hierarquia territorial, população residente, PIB per capita e participação da administração pública no valor adicionado.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349240"/>
            <a:ext cx="10908792" cy="868680"/>
          </a:xfrm>
          <a:prstGeom prst="roundRect">
            <a:avLst>
              <a:gd name="adj" fmla="val 9474"/>
            </a:avLst>
          </a:prstGeom>
          <a:solidFill>
            <a:srgbClr val="141B17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550468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cruzada de fontes:  </a:t>
            </a:r>
            <a:pPr indent="0" marL="0"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92,9% dos municípios ficam dentro de 1 ponto percentual entre a taxa que calculamos dos microdados e a taxa publicada na Base dos Dados. Diferença absoluta média de 0,33 p.p.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Pré-processamento e modelo em um único objeto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048256" cy="2286000"/>
          </a:xfrm>
          <a:prstGeom prst="roundRect">
            <a:avLst>
              <a:gd name="adj" fmla="val 4018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9572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971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Microdados lidos direto dos .zip, com cache colunar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71216" y="1691640"/>
            <a:ext cx="2048256" cy="2286000"/>
          </a:xfrm>
          <a:prstGeom prst="roundRect">
            <a:avLst>
              <a:gd name="adj" fmla="val 4018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99816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099816" y="239572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defasado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099816" y="2971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Agregações de município e UF do ano anterior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02352" y="1691640"/>
            <a:ext cx="2048256" cy="2286000"/>
          </a:xfrm>
          <a:prstGeom prst="roundRect">
            <a:avLst>
              <a:gd name="adj" fmla="val 4018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30952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330952" y="239572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Enriquecimento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330952" y="2971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Metas, território e socioeconômico por código IBGE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33488" y="1691640"/>
            <a:ext cx="2048256" cy="2286000"/>
          </a:xfrm>
          <a:prstGeom prst="roundRect">
            <a:avLst>
              <a:gd name="adj" fmla="val 4018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62088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7562088" y="239572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sklearn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562088" y="2971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Imputação, encoding e modelo integrados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564624" y="1691640"/>
            <a:ext cx="2048256" cy="2286000"/>
          </a:xfrm>
          <a:prstGeom prst="roundRect">
            <a:avLst>
              <a:gd name="adj" fmla="val 4018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93224" y="1828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793224" y="239572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93224" y="29718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Out-of-time e validação cruzada agrupada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297680"/>
            <a:ext cx="10908792" cy="1600200"/>
          </a:xfrm>
          <a:prstGeom prst="roundRect">
            <a:avLst>
              <a:gd name="adj" fmla="val 5143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4480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48463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numéricas  →  imputação pela mediana + indicador de ausência  →  padronização (modelos lineares)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categóricas  →  imputação pela moda  →  One-Hot com handle_unknown="ignore"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conversão para float32  →  modelo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o pré-processamento dentro do modelo não é organização de código: é o que impede que estatísticas do teste vazem para o treino.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camadas de vazamento — e uma armadilha nos dados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493008" cy="1920240"/>
          </a:xfrm>
          <a:prstGeom prst="roundRect">
            <a:avLst>
              <a:gd name="adj" fmla="val 4286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828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1214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Derivação direta do alvo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proficiência DEFINE o rótulo (≥ 743). Usá-la daria 100% de acurácia e valor zero.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15968" y="1645920"/>
            <a:ext cx="3493008" cy="1920240"/>
          </a:xfrm>
          <a:prstGeom prst="roundRect">
            <a:avLst>
              <a:gd name="adj" fmla="val 4286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828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1214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Artefatos da aplicação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item a item, gabaritos, caderno e peso amostral só existem depois da prova.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91856" y="1645920"/>
            <a:ext cx="3493008" cy="1920240"/>
          </a:xfrm>
          <a:prstGeom prst="roundRect">
            <a:avLst>
              <a:gd name="adj" fmla="val 4286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47888" y="1828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 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247888" y="21214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Agregados do próprio ano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47888" y="2697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taxa do município em t inclui o resultado dos colegas — e do próprio aluno.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703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que resolve as três: todo atributo de contexto vem do ano ANTERIOR.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251960"/>
            <a:ext cx="10908792" cy="1600200"/>
          </a:xfrm>
          <a:prstGeom prst="roundRect">
            <a:avLst>
              <a:gd name="adj" fmla="val 5143"/>
            </a:avLst>
          </a:prstGeom>
          <a:solidFill>
            <a:srgbClr val="1F1518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B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armadilha que quase envenenou o modelo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4800600"/>
            <a:ext cx="10241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histórico por ESCOLA seria o atributo mais forte possível — e deu correlação de 0,06 com o alvo. O INEP reanonimiza o ID_ESCOLA a cada edição: de 42.391 ids presentes em 2024 e 2025, apenas 2,0% estão no mesmo município nos dois anos. Cruzar escola entre anos colava o passado da escola A no aluno da escola B.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DO ALGORITMO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precisa vencer uma conta de subtração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08792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2560320"/>
                <a:gridCol w="24963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8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E8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— municípios novos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E8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— estados novos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6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(classe majoritária)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AB2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analítico — ordenar pelo esforço necessário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AB2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AB21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9A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 de Decisão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9A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9A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9A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Regressão Logística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9A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9A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9A9A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9A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9A9A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908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 (escolhido)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08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085E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6177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municípios por “quantos pontos faltam para a meta” é uma conta de subtração, sem modelo nenhum. Colocá-la na tabela é o que separa um ganho real de um número bonito.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2578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nos dois grãos: lida com não linearidades e interações territoriais, treina rápido em milhões de linhas, e a regularização entrou no espaço de busca do RandomizedSearchCV para conter overfitting.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GRÃO ALUNO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 bem — e tem um teto estrutural</a:t>
            </a:r>
            <a:endParaRPr lang="en-US" sz="3200" dirty="0"/>
          </a:p>
        </p:txBody>
      </p:sp>
      <p:pic>
        <p:nvPicPr>
          <p:cNvPr id="4" name="Image 0" descr="/home/claude/tech-challenge-fase3/images/07_roc_alu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420624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20640" y="1691640"/>
            <a:ext cx="6428232" cy="1051560"/>
          </a:xfrm>
          <a:prstGeom prst="roundRect">
            <a:avLst>
              <a:gd name="adj" fmla="val 7826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40680" y="18562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0,639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7223760" y="198424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out-of-time (teste em 2025)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120640" y="2926080"/>
            <a:ext cx="6428232" cy="1051560"/>
          </a:xfrm>
          <a:prstGeom prst="roundRect">
            <a:avLst>
              <a:gd name="adj" fmla="val 7826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40680" y="309067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0,676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321868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in-sample — gap pequeno, sem overfitting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120640" y="4160520"/>
            <a:ext cx="6428232" cy="1051560"/>
          </a:xfrm>
          <a:prstGeom prst="roundRect">
            <a:avLst>
              <a:gd name="adj" fmla="val 7826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40680" y="432511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0,214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7223760" y="44531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score — probabilidades bem calibradas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120640" y="5394960"/>
            <a:ext cx="6428232" cy="914400"/>
          </a:xfrm>
          <a:prstGeom prst="roundRect">
            <a:avLst>
              <a:gd name="adj" fmla="val 9000"/>
            </a:avLst>
          </a:prstGeom>
          <a:solidFill>
            <a:srgbClr val="1B1726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40680" y="553212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crianças da mesma escola recebem a MESMA predição: os microdados não trazem variáveis do aluno. O modelo não rotula uma criança — ele estima risco agregado e ordena territórios.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GRÃO MUNICÍPIO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real — e o limite de onde ele vale</a:t>
            </a:r>
            <a:endParaRPr lang="en-US" sz="3200" dirty="0"/>
          </a:p>
        </p:txBody>
      </p:sp>
      <p:pic>
        <p:nvPicPr>
          <p:cNvPr id="4" name="Image 0" descr="/home/claude/tech-challenge-fase3/images/10_roc_municip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4206240" cy="3794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20640" y="1691640"/>
            <a:ext cx="6428232" cy="1463040"/>
          </a:xfrm>
          <a:prstGeom prst="roundRect">
            <a:avLst>
              <a:gd name="adj" fmla="val 5625"/>
            </a:avLst>
          </a:prstGeom>
          <a:solidFill>
            <a:srgbClr val="1221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40680" y="18745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9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0,806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223760" y="19659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para municípios novos, contra 0,744 do baseline analítico — ganho de +0,062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120640" y="3291840"/>
            <a:ext cx="6428232" cy="1463040"/>
          </a:xfrm>
          <a:prstGeom prst="roundRect">
            <a:avLst>
              <a:gd name="adj" fmla="val 5625"/>
            </a:avLst>
          </a:prstGeom>
          <a:solidFill>
            <a:srgbClr val="241A1A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40680" y="34747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B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0,720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7223760" y="35661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ao prever estados INTEIROS nunca vistos — abaixo do baseline. O ganho é intra-estadual.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120640" y="4892040"/>
            <a:ext cx="6428232" cy="1417320"/>
          </a:xfrm>
          <a:prstGeom prst="roundRect">
            <a:avLst>
              <a:gd name="adj" fmla="val 5806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40680" y="50749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limiar calibrado em 0,27, o recall sobe de 0,44 para 0,72: de cada dez municípios que vão ficar abaixo da meta, o modelo sinaliza sete. Em política pública, deixar de sinalizar custa mais caro do que sinalizar a mais.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INTERPRETABILIDADE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modelo olha para decidir</a:t>
            </a:r>
            <a:endParaRPr lang="en-US" sz="3200" dirty="0"/>
          </a:p>
        </p:txBody>
      </p:sp>
      <p:pic>
        <p:nvPicPr>
          <p:cNvPr id="4" name="Image 0" descr="/home/claude/tech-challenge-fase3/images/14_aluno_shap_barr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5760720" cy="39136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29400" y="1600200"/>
            <a:ext cx="4919472" cy="3886200"/>
          </a:xfrm>
          <a:prstGeom prst="roundRect">
            <a:avLst>
              <a:gd name="adj" fmla="val 2118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49440" y="17830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2194560"/>
            <a:ext cx="4297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bloco educacional defasado domina: proficiência média do município no ano anterior responde por 37,6% do ganho do modelo.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proficiência da UF vem em seguida, com 13,4% — política estadual pesa.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grão município, o esforço necessário lidera (22,2%), seguido da dispersão interna entre escolas.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variáveis socioeconômicas aparecem em posição secundária — e esse é o achado que abre a próxima página.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não é destino</a:t>
            </a:r>
            <a:endParaRPr lang="en-US" sz="3200" dirty="0"/>
          </a:p>
        </p:txBody>
      </p:sp>
      <p:pic>
        <p:nvPicPr>
          <p:cNvPr id="4" name="Image 0" descr="/home/claude/tech-challenge-fase3/images/05_pib_x_alfabetiz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5943600" cy="3749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49440" y="17830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0,044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6949440" y="2587752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entre PIB per capita e taxa de alfabetização entre municípios — praticamente nula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949440" y="3429000"/>
            <a:ext cx="4599432" cy="960120"/>
          </a:xfrm>
          <a:prstGeom prst="roundRect">
            <a:avLst>
              <a:gd name="adj" fmla="val 8571"/>
            </a:avLst>
          </a:prstGeom>
          <a:solidFill>
            <a:srgbClr val="1221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69480" y="35844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Ceará · 84,0%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39044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 o país, à frente de estados muito mais ricos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949440" y="4526280"/>
            <a:ext cx="4599432" cy="960120"/>
          </a:xfrm>
          <a:prstGeom prst="roundRect">
            <a:avLst>
              <a:gd name="adj" fmla="val 8571"/>
            </a:avLst>
          </a:prstGeom>
          <a:solidFill>
            <a:srgbClr val="241A1A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269480" y="468172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Grande do Sul · 53,7%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269480" y="50017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entre as cinco piores UFs do país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renda não determina o resultado, o resultado é acionável: política educacional local explica mais que orçamento.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risco é altamente concentrado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65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731 mil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77063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em risco estimadas em 2025, somando as probabilidades do modelo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20440" cy="2194560"/>
          </a:xfrm>
          <a:prstGeom prst="roundRect">
            <a:avLst>
              <a:gd name="adj" fmla="val 3750"/>
            </a:avLst>
          </a:prstGeom>
          <a:solidFill>
            <a:srgbClr val="1B1726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965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AB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228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77063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concentram METADE dessas crianças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46720" y="1691640"/>
            <a:ext cx="3502152" cy="2194560"/>
          </a:xfrm>
          <a:prstGeom prst="roundRect">
            <a:avLst>
              <a:gd name="adj" fmla="val 3750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66760" y="1965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5.556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77063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avaliados no país — 4% do total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206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política que atinja 4% dos municípios já cobre metade do problema.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7548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muda completamente a viabilidade orçamentária de um programa nacional de reforço: o desafio deixa de ser cobrir o país inteiro e passa a ser priorizar bem.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soma das probabilidades de risco do modelo de aluno, agregadas por município (reports/municipios_criancas_em_risco.csv).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de risco para 2026</a:t>
            </a:r>
            <a:endParaRPr lang="en-US" sz="3200" dirty="0"/>
          </a:p>
        </p:txBody>
      </p:sp>
      <p:pic>
        <p:nvPicPr>
          <p:cNvPr id="4" name="Image 0" descr="/home/claude/tech-challenge-fase3/images/12_top_municipios_ris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603504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995160" y="1691640"/>
            <a:ext cx="4553712" cy="1115568"/>
          </a:xfrm>
          <a:prstGeom prst="roundRect">
            <a:avLst>
              <a:gd name="adj" fmla="val 7377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0" y="1837944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1.691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9372600" y="18745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acima do limiar de risco (31,7% dos avaliados)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995160" y="2990088"/>
            <a:ext cx="4553712" cy="1115568"/>
          </a:xfrm>
          <a:prstGeom prst="roundRect">
            <a:avLst>
              <a:gd name="adj" fmla="val 7377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0" y="31363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B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857.718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9372600" y="317296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avaliadas em 2025 nesses municípios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995160" y="4288536"/>
            <a:ext cx="4553712" cy="1115568"/>
          </a:xfrm>
          <a:prstGeom prst="roundRect">
            <a:avLst>
              <a:gd name="adj" fmla="val 7377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0" y="443484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9,7 p.p.</a:t>
            </a:r>
            <a:endParaRPr lang="en-US" sz="2800" dirty="0"/>
          </a:p>
        </p:txBody>
      </p:sp>
      <p:sp>
        <p:nvSpPr>
          <p:cNvPr id="13" name="Text 10"/>
          <p:cNvSpPr txBox="1"/>
          <p:nvPr/>
        </p:nvSpPr>
        <p:spPr>
          <a:xfrm>
            <a:off x="9372600" y="4471416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esforço médio para o grupo alcançar a meta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995160" y="5577840"/>
            <a:ext cx="4553712" cy="868680"/>
          </a:xfrm>
          <a:prstGeom prst="roundRect">
            <a:avLst>
              <a:gd name="adj" fmla="val 9474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0" y="5687568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Entregável operacional: ranking priorizado em CSV, com probabilidade de risco, taxa atual, meta e pontos percentuais faltantes — filtrável por UF, região ou porte.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58064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topo do ranking é dominado por municípios do Rio Grande do Sul — coerente com o estado estar entre as cinco piores UFs do país em 2025.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ESTRATÉGICO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isso vira política pública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011680"/>
            <a:ext cx="365760" cy="365760"/>
          </a:xfrm>
          <a:prstGeom prst="ellipse">
            <a:avLst/>
          </a:prstGeom>
          <a:solidFill>
            <a:srgbClr val="9085E9"/>
          </a:solidFill>
          <a:ln w="12700">
            <a:solidFill>
              <a:srgbClr val="9085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08760" y="1965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4231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risco para a meta de 2026, ordenando onde o apoio entra primeiro.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9632" y="16916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9672" y="2011680"/>
            <a:ext cx="365760" cy="365760"/>
          </a:xfrm>
          <a:prstGeom prst="ellipse">
            <a:avLst/>
          </a:prstGeom>
          <a:solidFill>
            <a:srgbClr val="3987E5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68312" y="1965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068312" y="24231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das probabilidades por território estima quantas crianças cada programa precisa alcançar.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4023360"/>
            <a:ext cx="365760" cy="365760"/>
          </a:xfrm>
          <a:prstGeom prst="ellipse">
            <a:avLst/>
          </a:prstGeom>
          <a:solidFill>
            <a:srgbClr val="199E70"/>
          </a:solidFill>
          <a:ln w="12700">
            <a:solidFill>
              <a:srgbClr val="199E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08760" y="3977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Focar dentro do município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434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Dispersão entre escolas e desempenho da pior escola revelam bolsões que a média esconde.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9632" y="370332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191922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19672" y="4023360"/>
            <a:ext cx="365760" cy="365760"/>
          </a:xfrm>
          <a:prstGeom prst="ellipse">
            <a:avLst/>
          </a:prstGeom>
          <a:solidFill>
            <a:srgbClr val="FAB219"/>
          </a:solidFill>
          <a:ln w="12700">
            <a:solidFill>
              <a:srgbClr val="FAB21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68312" y="3977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068312" y="4434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para a meta recalculada a cada edição, com pipeline reproduzível.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do que construir modelos: transformar dado público em decisão que chega na sala de aula.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HONESTIDADE ANALÍTICA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modelo não faz — e para onde ele evolui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241A1A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2860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variáveis do aluno: os microdados não trazem características individuais — é o teto do modelo de aluno.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curta: três edições e apenas uma safra de metas utilizável.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ID_ESCOLA reanonimizado a cada ano impede análise longitudinal por escola.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extrapolar entre estados: o teste por UF fica abaixo do baseline analítico.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Correlação não é causalidade: o modelo diz onde olhar, não o que funciona.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9632" y="169164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12211C"/>
          </a:solidFill>
          <a:ln w="12700">
            <a:solidFill>
              <a:srgbClr val="2A2A3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9672" y="1920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9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EVOLUÇÕES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28600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Escolar: infraestrutura, formação docente e jornada — o que a escola faz, não só o que obteve.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Único: vulnerabilidade social no nível domiciliar.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longitudinal por escola, se houver identificador estável.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causal para avaliar o efeito de programas específicos.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 o escore de risco como tabela da camada Gold da Fase 2.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2377440"/>
            <a:ext cx="6949440" cy="6949440"/>
          </a:xfrm>
          <a:prstGeom prst="ellipse">
            <a:avLst/>
          </a:prstGeom>
          <a:solidFill>
            <a:srgbClr val="9085E9">
              <a:alpha val="10000"/>
            </a:srgbClr>
          </a:solidFill>
          <a:ln w="12700">
            <a:solidFill>
              <a:srgbClr val="0E0E1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908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fica desta fase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Alfabetização é um problema de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E8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territorial.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65760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Prever a criança individualmente tem teto: AUC 0,639. Prever o município funciona: AUC 0,806, com ganho real sobre a regra analítica.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não determina o resultado — política educacional local, sim.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9A9A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228 municípios concentram metade das crianças em risco do país.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· Fase 3  ·  Pós-Tech  ·  Repositório, notebooks e rankings disponíveis no README do projeto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Predição e Inteligência Analítica para Alfabetização no Brasil</dc:title>
  <dc:subject>PptxGenJS Presentation</dc:subject>
  <dc:creator>Grupo Tech Challenge Fase 3</dc:creator>
  <cp:lastModifiedBy>Grupo Tech Challenge Fase 3</cp:lastModifiedBy>
  <cp:revision>1</cp:revision>
  <dcterms:created xsi:type="dcterms:W3CDTF">2026-09-09T01:13:17Z</dcterms:created>
  <dcterms:modified xsi:type="dcterms:W3CDTF">2026-09-09T01:13:17Z</dcterms:modified>
</cp:coreProperties>
</file>